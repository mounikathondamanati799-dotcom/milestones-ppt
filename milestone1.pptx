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3716000" cx="2438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7.xml"/><Relationship Id="rId22" Type="http://schemas.openxmlformats.org/officeDocument/2006/relationships/font" Target="fonts/HelveticaNeue-bold.fntdata"/><Relationship Id="rId10" Type="http://schemas.openxmlformats.org/officeDocument/2006/relationships/slide" Target="slides/slide6.xml"/><Relationship Id="rId21" Type="http://schemas.openxmlformats.org/officeDocument/2006/relationships/font" Target="fonts/HelveticaNeue-regular.fntdata"/><Relationship Id="rId13" Type="http://schemas.openxmlformats.org/officeDocument/2006/relationships/slide" Target="slides/slide9.xml"/><Relationship Id="rId24" Type="http://schemas.openxmlformats.org/officeDocument/2006/relationships/font" Target="fonts/HelveticaNeue-boldItalic.fntdata"/><Relationship Id="rId12" Type="http://schemas.openxmlformats.org/officeDocument/2006/relationships/slide" Target="slides/slide8.xml"/><Relationship Id="rId23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unito-italic.fntdata"/><Relationship Id="rId6" Type="http://schemas.openxmlformats.org/officeDocument/2006/relationships/slide" Target="slides/slide2.xml"/><Relationship Id="rId18" Type="http://schemas.openxmlformats.org/officeDocument/2006/relationships/font" Target="fonts/Nuni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b54f09751df15e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b54f09751df15e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b54f09751df15e_2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b54f09751df15e_2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2" y="7532000"/>
            <a:ext cx="19654500" cy="61839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9553500" y="4135200"/>
            <a:ext cx="14830500" cy="9580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13490413" y="100"/>
            <a:ext cx="10893600" cy="54735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42067" y="550000"/>
            <a:ext cx="23300100" cy="12615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609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680543" y="1580"/>
            <a:ext cx="6001043" cy="2784835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2414417" y="1580"/>
            <a:ext cx="6001043" cy="2784835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18819914" y="13569"/>
            <a:ext cx="4936753" cy="2005592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17474520" y="11247604"/>
            <a:ext cx="6370773" cy="2468633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530833" y="10815072"/>
            <a:ext cx="7454363" cy="2888850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4956542" y="4860889"/>
            <a:ext cx="14296800" cy="3861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4956533" y="9101755"/>
            <a:ext cx="14296800" cy="1393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12685500" y="6158400"/>
            <a:ext cx="11698500" cy="755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14918073" y="10562973"/>
            <a:ext cx="7760460" cy="3152878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530833" y="6"/>
            <a:ext cx="7454363" cy="2888850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5036490" y="4656267"/>
            <a:ext cx="14340000" cy="438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500"/>
              <a:buNone/>
              <a:defRPr sz="8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500"/>
              <a:buNone/>
              <a:defRPr sz="85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500"/>
              <a:buNone/>
              <a:defRPr sz="85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500"/>
              <a:buNone/>
              <a:defRPr sz="85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500"/>
              <a:buNone/>
              <a:defRPr sz="85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500"/>
              <a:buNone/>
              <a:defRPr sz="85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500"/>
              <a:buNone/>
              <a:defRPr sz="85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500"/>
              <a:buNone/>
              <a:defRPr sz="85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500"/>
              <a:buNone/>
              <a:defRPr sz="8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9553500" y="4135200"/>
            <a:ext cx="14830500" cy="9580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2" y="7532000"/>
            <a:ext cx="19654500" cy="61839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41933" y="550000"/>
            <a:ext cx="23300100" cy="12615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609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2184400" y="2254933"/>
            <a:ext cx="20015100" cy="2545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2184400" y="5308600"/>
            <a:ext cx="20015100" cy="65280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9553500" y="4135200"/>
            <a:ext cx="14830500" cy="9580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2" y="7532000"/>
            <a:ext cx="19654500" cy="61839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41933" y="550000"/>
            <a:ext cx="23300100" cy="12615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609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2184400" y="2254933"/>
            <a:ext cx="20015100" cy="2545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2184400" y="5308600"/>
            <a:ext cx="9829500" cy="65280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12369800" y="5308600"/>
            <a:ext cx="9829500" cy="65280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9553500" y="4135200"/>
            <a:ext cx="14830500" cy="9580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2" y="7532000"/>
            <a:ext cx="19654500" cy="61839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541933" y="550000"/>
            <a:ext cx="23300100" cy="12615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609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184400" y="2254933"/>
            <a:ext cx="20015100" cy="2545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9553500" y="4135200"/>
            <a:ext cx="14830500" cy="9580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2" y="7532000"/>
            <a:ext cx="19654500" cy="61839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541933" y="550000"/>
            <a:ext cx="23300100" cy="12615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609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2184400" y="2254933"/>
            <a:ext cx="9891300" cy="36879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2215200" y="6184133"/>
            <a:ext cx="9891300" cy="56529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7528384"/>
            <a:ext cx="19651200" cy="61785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9555127" y="4144301"/>
            <a:ext cx="14828100" cy="9572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682775" y="-461"/>
            <a:ext cx="6003631" cy="2782403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541933" y="550000"/>
            <a:ext cx="23300100" cy="12615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609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93158" y="12059001"/>
            <a:ext cx="4248815" cy="1645554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15696941" y="3314"/>
            <a:ext cx="8686546" cy="3364065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3717144" y="3469722"/>
            <a:ext cx="16978500" cy="67713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9553500" y="4135200"/>
            <a:ext cx="14830500" cy="9580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82" y="7532000"/>
            <a:ext cx="19654500" cy="61839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41933" y="550000"/>
            <a:ext cx="23300100" cy="12615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609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2184400" y="2254933"/>
            <a:ext cx="17131200" cy="1880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2184400" y="4135200"/>
            <a:ext cx="15626400" cy="10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2184400" y="6578800"/>
            <a:ext cx="15626400" cy="5588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82" y="7532000"/>
            <a:ext cx="19654500" cy="6183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9553500" y="4135200"/>
            <a:ext cx="14830500" cy="9580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541933" y="550000"/>
            <a:ext cx="23300100" cy="12615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609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874733" y="11102667"/>
            <a:ext cx="19773600" cy="16137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14851200" y="7557533"/>
            <a:ext cx="9532800" cy="6158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15891258" y="10985536"/>
            <a:ext cx="6722539" cy="2731107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530833" y="6"/>
            <a:ext cx="7454363" cy="2888850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3695600" y="3690267"/>
            <a:ext cx="16992900" cy="36792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900"/>
              <a:buNone/>
              <a:defRPr sz="229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900"/>
              <a:buNone/>
              <a:defRPr sz="229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900"/>
              <a:buNone/>
              <a:defRPr sz="229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900"/>
              <a:buNone/>
              <a:defRPr sz="229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900"/>
              <a:buNone/>
              <a:defRPr sz="229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900"/>
              <a:buNone/>
              <a:defRPr sz="229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900"/>
              <a:buNone/>
              <a:defRPr sz="229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900"/>
              <a:buNone/>
              <a:defRPr sz="229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900"/>
              <a:buNone/>
              <a:defRPr sz="229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3695600" y="7636933"/>
            <a:ext cx="16992900" cy="170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 algn="ctr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 algn="ctr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 algn="ctr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 algn="ctr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 algn="ctr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 algn="ctr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 algn="ctr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 algn="ctr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" type="body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2" type="body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_AND_BODY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9pPr>
          </a:lstStyle>
          <a:p/>
        </p:txBody>
      </p:sp>
      <p:sp>
        <p:nvSpPr>
          <p:cNvPr id="132" name="Google Shape;132;p14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>
            <p:ph idx="1" type="body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9pPr>
          </a:lstStyle>
          <a:p/>
        </p:txBody>
      </p:sp>
      <p:sp>
        <p:nvSpPr>
          <p:cNvPr id="136" name="Google Shape;136;p15"/>
          <p:cNvSpPr txBox="1"/>
          <p:nvPr>
            <p:ph idx="2" type="body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●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○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■"/>
              <a:defRPr/>
            </a:lvl9pPr>
          </a:lstStyle>
          <a:p/>
        </p:txBody>
      </p:sp>
      <p:sp>
        <p:nvSpPr>
          <p:cNvPr id="137" name="Google Shape;137;p15"/>
          <p:cNvSpPr/>
          <p:nvPr>
            <p:ph idx="3" type="pic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/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12" type="sldNum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>
            <p:ph idx="2" type="pic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17"/>
          <p:cNvSpPr/>
          <p:nvPr>
            <p:ph idx="3" type="pic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7"/>
          <p:cNvSpPr/>
          <p:nvPr>
            <p:ph idx="4" type="pic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17"/>
          <p:cNvSpPr txBox="1"/>
          <p:nvPr>
            <p:ph idx="12" type="sldNum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Nunito"/>
              <a:buNone/>
              <a:defRPr sz="7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Nunito"/>
              <a:buNone/>
              <a:defRPr sz="7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Nunito"/>
              <a:buNone/>
              <a:defRPr sz="7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Nunito"/>
              <a:buNone/>
              <a:defRPr sz="7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Nunito"/>
              <a:buNone/>
              <a:defRPr sz="7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Nunito"/>
              <a:buNone/>
              <a:defRPr sz="7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Nunito"/>
              <a:buNone/>
              <a:defRPr sz="7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Nunito"/>
              <a:buNone/>
              <a:defRPr sz="7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Nunito"/>
              <a:buNone/>
              <a:defRPr sz="7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1200" y="3073267"/>
            <a:ext cx="22721700" cy="90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bri"/>
              <a:buChar char="●"/>
              <a:defRPr sz="3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12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Calibri"/>
              <a:buChar char="○"/>
              <a:defRPr sz="2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2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Calibri"/>
              <a:buChar char="■"/>
              <a:defRPr sz="2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12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Calibri"/>
              <a:buChar char="●"/>
              <a:defRPr sz="2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12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Calibri"/>
              <a:buChar char="○"/>
              <a:defRPr sz="2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12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Calibri"/>
              <a:buChar char="■"/>
              <a:defRPr sz="2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12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Calibri"/>
              <a:buChar char="●"/>
              <a:defRPr sz="2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12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Calibri"/>
              <a:buChar char="○"/>
              <a:defRPr sz="2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12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Calibri"/>
              <a:buChar char="■"/>
              <a:defRPr sz="2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2375290" y="12116449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r">
              <a:buNone/>
              <a:defRPr sz="2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2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2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2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2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2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2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2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2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/>
        </p:nvSpPr>
        <p:spPr>
          <a:xfrm>
            <a:off x="11855500" y="6624972"/>
            <a:ext cx="6729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18"/>
          <p:cNvSpPr txBox="1"/>
          <p:nvPr>
            <p:ph idx="4294967295" type="ctrTitle"/>
          </p:nvPr>
        </p:nvSpPr>
        <p:spPr>
          <a:xfrm>
            <a:off x="445900" y="2792625"/>
            <a:ext cx="24710400" cy="4745100"/>
          </a:xfrm>
          <a:prstGeom prst="rect">
            <a:avLst/>
          </a:prstGeom>
          <a:noFill/>
          <a:ln>
            <a:noFill/>
          </a:ln>
          <a:effectLst>
            <a:outerShdw blurRad="63500" rotWithShape="0" dir="5400000" dist="25400">
              <a:srgbClr val="000000">
                <a:alpha val="49800"/>
              </a:srgbClr>
            </a:outerShdw>
          </a:effectLst>
        </p:spPr>
        <p:txBody>
          <a:bodyPr anchorCtr="0" anchor="b" bIns="596900" lIns="596900" spcFirstLastPara="1" rIns="596900" wrap="square" tIns="5969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5C1FF"/>
              </a:buClr>
              <a:buSzPts val="11300"/>
              <a:buFont typeface="Helvetica Neue"/>
              <a:buNone/>
            </a:pPr>
            <a:r>
              <a:rPr b="1" i="0" lang="en-US" sz="11300" u="none" cap="none" strike="noStrike">
                <a:solidFill>
                  <a:srgbClr val="55C1FF"/>
                </a:solidFill>
                <a:latin typeface="Calibri"/>
                <a:ea typeface="Calibri"/>
                <a:cs typeface="Calibri"/>
                <a:sym typeface="Calibri"/>
              </a:rPr>
              <a:t>Smart Home Energy Management   System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17546600" y="9069850"/>
            <a:ext cx="689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14284400" y="9514700"/>
            <a:ext cx="10157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lang="en-US" sz="4800">
                <a:solidFill>
                  <a:srgbClr val="FC5555"/>
                </a:solidFill>
                <a:latin typeface="Calibri"/>
                <a:ea typeface="Calibri"/>
                <a:cs typeface="Calibri"/>
                <a:sym typeface="Calibri"/>
              </a:rPr>
              <a:t>Mounika</a:t>
            </a:r>
            <a:endParaRPr sz="4800">
              <a:solidFill>
                <a:srgbClr val="FC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C5555"/>
                </a:solidFill>
                <a:latin typeface="Calibri"/>
                <a:ea typeface="Calibri"/>
                <a:cs typeface="Calibri"/>
                <a:sym typeface="Calibri"/>
              </a:rPr>
              <a:t>under the guidance of </a:t>
            </a:r>
            <a:endParaRPr sz="4800">
              <a:solidFill>
                <a:srgbClr val="FC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C5555"/>
                </a:solidFill>
                <a:latin typeface="Calibri"/>
                <a:ea typeface="Calibri"/>
                <a:cs typeface="Calibri"/>
                <a:sym typeface="Calibri"/>
              </a:rPr>
              <a:t>     Dr.T.Premalatha</a:t>
            </a:r>
            <a:endParaRPr sz="4800">
              <a:solidFill>
                <a:srgbClr val="FC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6902022" y="1532538"/>
            <a:ext cx="8945819" cy="138875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E1C"/>
              </a:buClr>
              <a:buSzPts val="7571"/>
              <a:buFont typeface="Helvetica Neue"/>
              <a:buNone/>
            </a:pPr>
            <a:r>
              <a:rPr b="1" lang="en-US" sz="6571">
                <a:solidFill>
                  <a:srgbClr val="595E1C"/>
                </a:solidFill>
                <a:latin typeface="Calibri"/>
                <a:ea typeface="Calibri"/>
                <a:cs typeface="Calibri"/>
                <a:sym typeface="Calibri"/>
              </a:rPr>
              <a:t>Meaning of the Title</a:t>
            </a:r>
            <a:endParaRPr b="1" sz="6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>
            <p:ph idx="2" type="body"/>
          </p:nvPr>
        </p:nvSpPr>
        <p:spPr>
          <a:xfrm>
            <a:off x="3717063" y="4414225"/>
            <a:ext cx="18108240" cy="557355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51"/>
              <a:buFont typeface="Times"/>
              <a:buChar char="●"/>
            </a:pPr>
            <a:r>
              <a:rPr lang="en-US" sz="3700"/>
              <a:t>A </a:t>
            </a:r>
            <a:r>
              <a:rPr b="1" lang="en-US"/>
              <a:t>Smart Home Energy Management System</a:t>
            </a:r>
            <a:r>
              <a:rPr lang="en-US" sz="3700"/>
              <a:t> is an intelligent system that monitors and controls electricity usage in a home.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551"/>
              <a:buFont typeface="Times"/>
              <a:buChar char="●"/>
            </a:pPr>
            <a:r>
              <a:rPr lang="en-US" sz="3700"/>
              <a:t>It uses </a:t>
            </a:r>
            <a:r>
              <a:rPr b="1" lang="en-US"/>
              <a:t>sensors, smart devices, and automation</a:t>
            </a:r>
            <a:r>
              <a:rPr lang="en-US" sz="3700"/>
              <a:t> to track real-time power consumption.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551"/>
              <a:buFont typeface="Times"/>
              <a:buChar char="●"/>
            </a:pPr>
            <a:r>
              <a:rPr lang="en-US" sz="3700"/>
              <a:t>Helps to </a:t>
            </a:r>
            <a:r>
              <a:rPr b="1" lang="en-US"/>
              <a:t>reduce energy waste</a:t>
            </a:r>
            <a:r>
              <a:rPr lang="en-US" sz="3700"/>
              <a:t> and improve overall efficiency.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551"/>
              <a:buFont typeface="Times"/>
              <a:buChar char="●"/>
            </a:pPr>
            <a:r>
              <a:rPr lang="en-US" sz="3700"/>
              <a:t>Supports </a:t>
            </a:r>
            <a:r>
              <a:rPr b="1" lang="en-US"/>
              <a:t>cost savings</a:t>
            </a:r>
            <a:r>
              <a:rPr lang="en-US" sz="3700"/>
              <a:t> by lowering electricity bills.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551"/>
              <a:buFont typeface="Times"/>
              <a:buChar char="●"/>
            </a:pPr>
            <a:r>
              <a:rPr lang="en-US" sz="3700"/>
              <a:t>Promotes </a:t>
            </a:r>
            <a:r>
              <a:rPr b="1" lang="en-US"/>
              <a:t>sustainable living</a:t>
            </a:r>
            <a:r>
              <a:rPr lang="en-US" sz="3700"/>
              <a:t> through optimized energy usage.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11855500" y="6627317"/>
            <a:ext cx="673000" cy="461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2000">
        <p:pus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5C1FF"/>
              </a:buClr>
              <a:buSzPts val="8700"/>
              <a:buFont typeface="Helvetica Neue"/>
              <a:buNone/>
            </a:pPr>
            <a:r>
              <a:rPr lang="en-US" sz="8700">
                <a:solidFill>
                  <a:srgbClr val="55C1FF"/>
                </a:solidFill>
              </a:rPr>
              <a:t>               </a:t>
            </a:r>
            <a:r>
              <a:rPr b="1" lang="en-US" sz="6200">
                <a:latin typeface="Calibri"/>
                <a:ea typeface="Calibri"/>
                <a:cs typeface="Calibri"/>
                <a:sym typeface="Calibri"/>
              </a:rPr>
              <a:t>Problems in Existing System</a:t>
            </a:r>
            <a:endParaRPr b="1" sz="6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 txBox="1"/>
          <p:nvPr>
            <p:ph idx="2" type="body"/>
          </p:nvPr>
        </p:nvSpPr>
        <p:spPr>
          <a:xfrm>
            <a:off x="3308109" y="3869356"/>
            <a:ext cx="18874126" cy="82560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335851" lvl="0" marL="45719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9"/>
              <a:buChar char="●"/>
            </a:pPr>
            <a:r>
              <a:rPr lang="en-US" sz="4300"/>
              <a:t>No automatic monitoring of electricity usage.</a:t>
            </a:r>
            <a:endParaRPr/>
          </a:p>
          <a:p>
            <a:pPr indent="-335851" lvl="0" marL="45719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89"/>
              <a:buChar char="●"/>
            </a:pPr>
            <a:r>
              <a:rPr lang="en-US" sz="4300"/>
              <a:t>High power wastage due to manual control.</a:t>
            </a:r>
            <a:endParaRPr/>
          </a:p>
          <a:p>
            <a:pPr indent="-335851" lvl="0" marL="45719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89"/>
              <a:buFont typeface="Times"/>
              <a:buChar char="●"/>
            </a:pPr>
            <a:r>
              <a:rPr lang="en-US" sz="4100"/>
              <a:t>Users cannot track</a:t>
            </a:r>
            <a:r>
              <a:rPr lang="en-US"/>
              <a:t> </a:t>
            </a:r>
            <a:r>
              <a:rPr b="1" lang="en-US" sz="4300"/>
              <a:t>real-time energy consumption</a:t>
            </a:r>
            <a:r>
              <a:rPr lang="en-US"/>
              <a:t>.</a:t>
            </a:r>
            <a:endParaRPr/>
          </a:p>
          <a:p>
            <a:pPr indent="-335851" lvl="0" marL="45719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89"/>
              <a:buChar char="●"/>
            </a:pPr>
            <a:r>
              <a:rPr lang="en-US" sz="4300"/>
              <a:t>Difficulty in identifying which appliances consume more power.</a:t>
            </a:r>
            <a:endParaRPr/>
          </a:p>
          <a:p>
            <a:pPr indent="-335851" lvl="0" marL="45719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89"/>
              <a:buChar char="●"/>
            </a:pPr>
            <a:r>
              <a:rPr lang="en-US" sz="4300"/>
              <a:t>Higher electricity bills due to inefficient usage.</a:t>
            </a:r>
            <a:endParaRPr/>
          </a:p>
          <a:p>
            <a:pPr indent="-335851" lvl="0" marL="45719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89"/>
              <a:buChar char="●"/>
            </a:pPr>
            <a:r>
              <a:rPr lang="en-US" sz="4300"/>
              <a:t>No alerts or notifications for over-usage or faults.</a:t>
            </a:r>
            <a:endParaRPr/>
          </a:p>
          <a:p>
            <a:pPr indent="-335851" lvl="0" marL="45719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89"/>
              <a:buChar char="●"/>
            </a:pPr>
            <a:r>
              <a:rPr lang="en-US" sz="4300"/>
              <a:t>Lack of integration between home appliances and control systems.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title"/>
          </p:nvPr>
        </p:nvSpPr>
        <p:spPr>
          <a:xfrm>
            <a:off x="2220001" y="1077359"/>
            <a:ext cx="18051125" cy="143316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5C1FF"/>
              </a:buClr>
              <a:buSzPts val="8700"/>
              <a:buFont typeface="Helvetica Neue"/>
              <a:buNone/>
            </a:pPr>
            <a:r>
              <a:rPr lang="en-US" sz="8700">
                <a:solidFill>
                  <a:srgbClr val="55C1FF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r>
              <a:rPr b="1" lang="en-US" sz="6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Proposed System</a:t>
            </a:r>
            <a:endParaRPr b="1" sz="6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 txBox="1"/>
          <p:nvPr>
            <p:ph idx="2" type="body"/>
          </p:nvPr>
        </p:nvSpPr>
        <p:spPr>
          <a:xfrm>
            <a:off x="3157782" y="4248504"/>
            <a:ext cx="20019718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31749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74"/>
              <a:buFont typeface="Times"/>
              <a:buChar char="●"/>
            </a:pPr>
            <a:r>
              <a:rPr lang="en-US" sz="4200"/>
              <a:t>The proposed system is</a:t>
            </a:r>
            <a:r>
              <a:rPr lang="en-US" sz="3200"/>
              <a:t> </a:t>
            </a:r>
            <a:r>
              <a:rPr lang="en-US"/>
              <a:t>a </a:t>
            </a:r>
            <a:r>
              <a:rPr b="1" lang="en-US" sz="3800"/>
              <a:t>Smart Home Energy Management System</a:t>
            </a:r>
            <a:r>
              <a:rPr lang="en-US"/>
              <a:t> </a:t>
            </a:r>
            <a:r>
              <a:rPr lang="en-US" sz="4000"/>
              <a:t>designed</a:t>
            </a:r>
            <a:r>
              <a:rPr lang="en-US" sz="4300"/>
              <a:t> to</a:t>
            </a:r>
            <a:r>
              <a:rPr lang="en-US"/>
              <a:t> </a:t>
            </a:r>
            <a:r>
              <a:rPr b="1" lang="en-US" sz="3800"/>
              <a:t>automatically monitor, control, and optimise energy usage</a:t>
            </a:r>
            <a:r>
              <a:rPr lang="en-US"/>
              <a:t> </a:t>
            </a:r>
            <a:r>
              <a:rPr lang="en-US" sz="4000"/>
              <a:t>in homes</a:t>
            </a:r>
            <a:r>
              <a:rPr lang="en-US" sz="3300"/>
              <a:t>.</a:t>
            </a:r>
            <a:endParaRPr sz="3300"/>
          </a:p>
          <a:p>
            <a:pPr indent="-317499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674"/>
              <a:buChar char="●"/>
            </a:pPr>
            <a:r>
              <a:rPr lang="en-US" sz="3800"/>
              <a:t>Helps reduce electricity wastage and lower energy bills.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Times"/>
              <a:buChar char="●"/>
            </a:pPr>
            <a:r>
              <a:rPr lang="en-US" sz="4000"/>
              <a:t>Provides</a:t>
            </a:r>
            <a:r>
              <a:rPr lang="en-US"/>
              <a:t> </a:t>
            </a:r>
            <a:r>
              <a:rPr b="1" lang="en-US" sz="3600"/>
              <a:t>automation and intelligent control</a:t>
            </a:r>
            <a:r>
              <a:rPr lang="en-US"/>
              <a:t> </a:t>
            </a:r>
            <a:r>
              <a:rPr lang="en-US" sz="4000"/>
              <a:t>of home appliances.</a:t>
            </a:r>
            <a:endParaRPr sz="4000"/>
          </a:p>
          <a:p>
            <a:pPr indent="-317499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674"/>
              <a:buFont typeface="Times"/>
              <a:buChar char="●"/>
            </a:pPr>
            <a:r>
              <a:rPr lang="en-US" sz="3800"/>
              <a:t>Offers </a:t>
            </a:r>
            <a:r>
              <a:rPr b="1" lang="en-US" sz="4200"/>
              <a:t>alerts, notifications, and reports</a:t>
            </a:r>
            <a:r>
              <a:rPr lang="en-US" sz="3800"/>
              <a:t> </a:t>
            </a:r>
            <a:r>
              <a:rPr lang="en-US" sz="3900"/>
              <a:t>to improve efficiency and sustainability.</a:t>
            </a:r>
            <a:endParaRPr sz="4900"/>
          </a:p>
        </p:txBody>
      </p:sp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2366161" y="1472484"/>
            <a:ext cx="175236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b="1" lang="en-US" sz="5500"/>
              <a:t>                            </a:t>
            </a:r>
            <a:r>
              <a:rPr b="1" lang="en-US" sz="5400"/>
              <a:t> </a:t>
            </a:r>
            <a:r>
              <a:rPr lang="en-US" sz="5700"/>
              <a:t>System Configuration</a:t>
            </a:r>
            <a:endParaRPr sz="5200"/>
          </a:p>
        </p:txBody>
      </p:sp>
      <p:sp>
        <p:nvSpPr>
          <p:cNvPr id="179" name="Google Shape;179;p22"/>
          <p:cNvSpPr txBox="1"/>
          <p:nvPr>
            <p:ph idx="2" type="body"/>
          </p:nvPr>
        </p:nvSpPr>
        <p:spPr>
          <a:xfrm>
            <a:off x="3078546" y="3111058"/>
            <a:ext cx="195660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lang="en-US" sz="3600"/>
              <a:t>Front-End(JavaScript/React):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182"/>
              <a:buChar char="●"/>
            </a:pPr>
            <a:r>
              <a:rPr lang="en-US" sz="3400"/>
              <a:t>Users control appliances via interactive dashboard and view real-time power usage with charts</a:t>
            </a:r>
            <a:endParaRPr sz="3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182"/>
              <a:buChar char="●"/>
            </a:pPr>
            <a:r>
              <a:rPr lang="en-US" sz="3400"/>
              <a:t>e.g.,fetch(‘/api/power’)for data.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182"/>
              <a:buChar char="●"/>
            </a:pPr>
            <a:r>
              <a:rPr lang="en-US" sz="3400"/>
              <a:t>Displays  energy usage graphs, and device control options.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lang="en-US" sz="3600"/>
              <a:t>Back-End(Java/Spring Boot):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182"/>
              <a:buChar char="●"/>
            </a:pPr>
            <a:r>
              <a:rPr lang="en-US" sz="3400"/>
              <a:t>Receives user requests,processes logic like device commands</a:t>
            </a:r>
            <a:endParaRPr sz="3400"/>
          </a:p>
          <a:p>
            <a:pPr indent="-267843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400"/>
              <a:buChar char="●"/>
            </a:pPr>
            <a:r>
              <a:rPr lang="en-US" sz="3400"/>
              <a:t>e.g.,if (user.role==’admin’{</a:t>
            </a:r>
            <a:endParaRPr sz="3400"/>
          </a:p>
          <a:p>
            <a:pPr indent="0" lvl="0" marL="609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400"/>
              <a:t>turnOn(device);</a:t>
            </a:r>
            <a:endParaRPr sz="3400"/>
          </a:p>
          <a:p>
            <a:pPr indent="0" lvl="0" marL="609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400"/>
              <a:t>}</a:t>
            </a:r>
            <a:endParaRPr sz="3400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182"/>
              <a:buChar char="●"/>
            </a:pPr>
            <a:r>
              <a:rPr lang="en-US" sz="3400"/>
              <a:t>Handles authentication, automation logic, alerts, notifications, and data storage.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lang="en-US" sz="3600"/>
              <a:t>Device &amp; Sensor Configuration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182"/>
              <a:buChar char="●"/>
            </a:pPr>
            <a:r>
              <a:rPr lang="en-US" sz="3400"/>
              <a:t>Smart meters, sensors, and appliances installed in the home.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182"/>
              <a:buChar char="●"/>
            </a:pPr>
            <a:r>
              <a:rPr lang="en-US" sz="3400"/>
              <a:t>Collect real-time energy consumption data and send it to the backend.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idx="2" type="body"/>
          </p:nvPr>
        </p:nvSpPr>
        <p:spPr>
          <a:xfrm>
            <a:off x="1203675" y="2646700"/>
            <a:ext cx="9779100" cy="112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EF56"/>
              </a:buClr>
              <a:buSzPts val="3300"/>
              <a:buFont typeface="Times"/>
              <a:buNone/>
            </a:pPr>
            <a:r>
              <a:rPr b="1" lang="en-US" sz="3300">
                <a:solidFill>
                  <a:srgbClr val="666666"/>
                </a:solidFill>
              </a:rPr>
              <a:t>Job of Module 1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813"/>
              <a:buFont typeface="Times"/>
              <a:buChar char="●"/>
            </a:pPr>
            <a:r>
              <a:rPr lang="en-US" sz="3100"/>
              <a:t>Provides </a:t>
            </a:r>
            <a:r>
              <a:rPr b="1" lang="en-US" sz="3900"/>
              <a:t>secure login</a:t>
            </a:r>
            <a:r>
              <a:rPr lang="en-US" sz="3100"/>
              <a:t> for users.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813"/>
              <a:buFont typeface="Times"/>
              <a:buChar char="●"/>
            </a:pPr>
            <a:r>
              <a:rPr lang="en-US" sz="3100"/>
              <a:t>Controls access based on </a:t>
            </a:r>
            <a:r>
              <a:rPr b="1" lang="en-US" sz="4000"/>
              <a:t>user roles</a:t>
            </a:r>
            <a:r>
              <a:rPr lang="en-US" sz="2300"/>
              <a:t> </a:t>
            </a:r>
            <a:r>
              <a:rPr lang="en-US" sz="3100"/>
              <a:t>(Admin, User, Guest).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Times"/>
              <a:buNone/>
            </a:pPr>
            <a:r>
              <a:t/>
            </a:r>
            <a:endParaRPr sz="31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4C7F"/>
              </a:buClr>
              <a:buSzPts val="3300"/>
              <a:buFont typeface="Times"/>
              <a:buNone/>
            </a:pPr>
            <a:r>
              <a:rPr b="1" lang="en-US" sz="3300">
                <a:solidFill>
                  <a:srgbClr val="004C7F"/>
                </a:solidFill>
              </a:rPr>
              <a:t>Activities Performed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813"/>
              <a:buChar char="●"/>
            </a:pPr>
            <a:r>
              <a:rPr lang="en-US" sz="3100"/>
              <a:t>User enters username &amp; password.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813"/>
              <a:buChar char="●"/>
            </a:pPr>
            <a:r>
              <a:rPr lang="en-US" sz="3100"/>
              <a:t>System verifies credentials.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813"/>
              <a:buChar char="●"/>
            </a:pPr>
            <a:r>
              <a:rPr lang="en-US" sz="3100"/>
              <a:t>Assigns a role after successful login.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813"/>
              <a:buChar char="●"/>
            </a:pPr>
            <a:r>
              <a:rPr lang="en-US" sz="3100"/>
              <a:t>Grants access only to permitted features.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F84D"/>
              </a:buClr>
              <a:buSzPts val="4000"/>
              <a:buFont typeface="Times"/>
              <a:buNone/>
            </a:pPr>
            <a:r>
              <a:rPr b="1" lang="en-US" sz="4000">
                <a:solidFill>
                  <a:srgbClr val="E06666"/>
                </a:solidFill>
              </a:rPr>
              <a:t>Activity Diagram: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85" name="Google Shape;185;p23"/>
          <p:cNvSpPr txBox="1"/>
          <p:nvPr>
            <p:ph type="title"/>
          </p:nvPr>
        </p:nvSpPr>
        <p:spPr>
          <a:xfrm>
            <a:off x="1419775" y="392301"/>
            <a:ext cx="9779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5555"/>
              </a:buClr>
              <a:buSzPts val="4100"/>
              <a:buFont typeface="Times"/>
              <a:buNone/>
            </a:pPr>
            <a:r>
              <a:rPr b="1" lang="en-US" sz="41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Module 1 – User Login &amp; Role-Based access</a:t>
            </a:r>
            <a:endParaRPr b="1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2026122" y="1104900"/>
            <a:ext cx="10922001" cy="11252200"/>
            <a:chOff x="0" y="0"/>
            <a:chExt cx="10922000" cy="11252200"/>
          </a:xfrm>
        </p:grpSpPr>
        <p:pic>
          <p:nvPicPr>
            <p:cNvPr descr="Screenshot 2025-12-03 at 12.06.28 PM.png" id="187" name="Google Shape;187;p23"/>
            <p:cNvPicPr preferRelativeResize="0"/>
            <p:nvPr/>
          </p:nvPicPr>
          <p:blipFill rotWithShape="1">
            <a:blip r:embed="rId4">
              <a:alphaModFix/>
            </a:blip>
            <a:srcRect b="0" l="807" r="808" t="0"/>
            <a:stretch/>
          </p:blipFill>
          <p:spPr>
            <a:xfrm>
              <a:off x="0" y="0"/>
              <a:ext cx="10922000" cy="106638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3"/>
            <p:cNvSpPr/>
            <p:nvPr/>
          </p:nvSpPr>
          <p:spPr>
            <a:xfrm>
              <a:off x="0" y="10740034"/>
              <a:ext cx="10922000" cy="512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2400"/>
                <a:buFont typeface="Helvetica Neue"/>
                <a:buNone/>
              </a:pPr>
              <a:r>
                <a:rPr b="0" i="0" lang="en-US" sz="2400" u="none" cap="none" strike="noStrike">
                  <a:solidFill>
                    <a:srgbClr val="5E5E5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Caption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idx="2" type="body"/>
          </p:nvPr>
        </p:nvSpPr>
        <p:spPr>
          <a:xfrm>
            <a:off x="1203675" y="1904975"/>
            <a:ext cx="9779100" cy="116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Times"/>
              <a:buNone/>
            </a:pPr>
            <a:r>
              <a:rPr lang="en-US" sz="3100"/>
              <a:t>1.</a:t>
            </a:r>
            <a:r>
              <a:rPr lang="en-US" sz="4000">
                <a:solidFill>
                  <a:srgbClr val="666666"/>
                </a:solidFill>
              </a:rPr>
              <a:t>User</a:t>
            </a:r>
            <a:endParaRPr sz="4100">
              <a:solidFill>
                <a:srgbClr val="666666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E5E5E"/>
              </a:buClr>
              <a:buSzPts val="2800"/>
              <a:buChar char="●"/>
            </a:pPr>
            <a:r>
              <a:rPr lang="en-US" sz="2800">
                <a:solidFill>
                  <a:srgbClr val="5E5E5E"/>
                </a:solidFill>
              </a:rPr>
              <a:t>Model class representing a user.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800"/>
              <a:buChar char="●"/>
            </a:pPr>
            <a:r>
              <a:rPr lang="en-US" sz="2800">
                <a:solidFill>
                  <a:srgbClr val="5E5E5E"/>
                </a:solidFill>
              </a:rPr>
              <a:t>Contains: username, password, role, email, status.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000"/>
              <a:t>2</a:t>
            </a:r>
            <a:r>
              <a:rPr b="1" lang="en-US" sz="3000"/>
              <a:t>. </a:t>
            </a:r>
            <a:r>
              <a:rPr lang="en-US">
                <a:solidFill>
                  <a:srgbClr val="666666"/>
                </a:solidFill>
              </a:rPr>
              <a:t>AuthController</a:t>
            </a:r>
            <a:endParaRPr>
              <a:solidFill>
                <a:srgbClr val="666666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E5E5E"/>
              </a:buClr>
              <a:buSzPts val="2800"/>
              <a:buChar char="●"/>
            </a:pPr>
            <a:r>
              <a:rPr lang="en-US" sz="2800">
                <a:solidFill>
                  <a:srgbClr val="5E5E5E"/>
                </a:solidFill>
              </a:rPr>
              <a:t>Receives login request from UI (front end).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800"/>
              <a:buChar char="●"/>
            </a:pPr>
            <a:r>
              <a:rPr lang="en-US" sz="2800">
                <a:solidFill>
                  <a:srgbClr val="5E5E5E"/>
                </a:solidFill>
              </a:rPr>
              <a:t>Sends username/password to AuthService,Returns login success/failure response.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"/>
              <a:buNone/>
            </a:pPr>
            <a:r>
              <a:rPr b="1" lang="en-US" sz="3000"/>
              <a:t>3</a:t>
            </a:r>
            <a:r>
              <a:rPr b="1" lang="en-US" sz="3000"/>
              <a:t>. </a:t>
            </a:r>
            <a:r>
              <a:rPr lang="en-US">
                <a:solidFill>
                  <a:srgbClr val="666666"/>
                </a:solidFill>
              </a:rPr>
              <a:t>AuthService</a:t>
            </a:r>
            <a:endParaRPr>
              <a:solidFill>
                <a:srgbClr val="666666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E5E5E"/>
              </a:buClr>
              <a:buSzPts val="2800"/>
              <a:buChar char="●"/>
            </a:pPr>
            <a:r>
              <a:rPr lang="en-US" sz="2800">
                <a:solidFill>
                  <a:srgbClr val="5E5E5E"/>
                </a:solidFill>
              </a:rPr>
              <a:t>Main login logic.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800"/>
              <a:buChar char="●"/>
            </a:pPr>
            <a:r>
              <a:rPr lang="en-US" sz="2800">
                <a:solidFill>
                  <a:srgbClr val="5E5E5E"/>
                </a:solidFill>
              </a:rPr>
              <a:t>Validates username + password.Calls UserRepository to fetch user data.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"/>
              <a:buNone/>
            </a:pPr>
            <a:r>
              <a:rPr b="1" lang="en-US" sz="3000"/>
              <a:t>4. </a:t>
            </a:r>
            <a:r>
              <a:rPr lang="en-US">
                <a:solidFill>
                  <a:srgbClr val="666666"/>
                </a:solidFill>
              </a:rPr>
              <a:t>UserRepository</a:t>
            </a:r>
            <a:endParaRPr>
              <a:solidFill>
                <a:srgbClr val="666666"/>
              </a:solidFill>
            </a:endParaRPr>
          </a:p>
          <a:p>
            <a:pPr indent="-369189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14"/>
              <a:buChar char="●"/>
            </a:pPr>
            <a:r>
              <a:rPr lang="en-US" sz="2800">
                <a:solidFill>
                  <a:srgbClr val="5E5E5E"/>
                </a:solidFill>
              </a:rPr>
              <a:t>Communicates with the </a:t>
            </a:r>
            <a:r>
              <a:rPr b="1" lang="en-US" sz="3200">
                <a:solidFill>
                  <a:srgbClr val="434343"/>
                </a:solidFill>
              </a:rPr>
              <a:t>database</a:t>
            </a:r>
            <a:r>
              <a:rPr lang="en-US" sz="1200">
                <a:solidFill>
                  <a:srgbClr val="5E5E5E"/>
                </a:solidFill>
              </a:rPr>
              <a:t>.</a:t>
            </a:r>
            <a:endParaRPr sz="32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800"/>
              <a:buChar char="●"/>
            </a:pPr>
            <a:r>
              <a:rPr lang="en-US" sz="2800">
                <a:solidFill>
                  <a:srgbClr val="5E5E5E"/>
                </a:solidFill>
              </a:rPr>
              <a:t>Fetches user by username.Saves user info when needed.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"/>
              <a:buNone/>
            </a:pPr>
            <a:r>
              <a:rPr b="1" lang="en-US" sz="3000"/>
              <a:t>5. </a:t>
            </a:r>
            <a:r>
              <a:rPr lang="en-US">
                <a:solidFill>
                  <a:srgbClr val="666666"/>
                </a:solidFill>
              </a:rPr>
              <a:t>Database Table (Users Table)</a:t>
            </a:r>
            <a:endParaRPr>
              <a:solidFill>
                <a:srgbClr val="666666"/>
              </a:solidFill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E5E5E"/>
              </a:buClr>
              <a:buSzPts val="2900"/>
              <a:buChar char="●"/>
            </a:pPr>
            <a:r>
              <a:rPr lang="en-US" sz="2900">
                <a:solidFill>
                  <a:srgbClr val="5E5E5E"/>
                </a:solidFill>
              </a:rPr>
              <a:t>Stores user credentials.</a:t>
            </a:r>
            <a:endParaRPr/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Char char="●"/>
            </a:pPr>
            <a:r>
              <a:rPr lang="en-US" sz="2900">
                <a:solidFill>
                  <a:srgbClr val="5E5E5E"/>
                </a:solidFill>
              </a:rPr>
              <a:t>Stores user roles.</a:t>
            </a:r>
            <a:endParaRPr/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Char char="●"/>
            </a:pPr>
            <a:r>
              <a:rPr lang="en-US" sz="2900">
                <a:solidFill>
                  <a:srgbClr val="5E5E5E"/>
                </a:solidFill>
              </a:rPr>
              <a:t>Example columns: id, username, password, role.</a:t>
            </a:r>
            <a:endParaRPr/>
          </a:p>
        </p:txBody>
      </p:sp>
      <p:sp>
        <p:nvSpPr>
          <p:cNvPr id="194" name="Google Shape;194;p24"/>
          <p:cNvSpPr txBox="1"/>
          <p:nvPr>
            <p:ph type="title"/>
          </p:nvPr>
        </p:nvSpPr>
        <p:spPr>
          <a:xfrm>
            <a:off x="851050" y="568650"/>
            <a:ext cx="110430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33"/>
              <a:buFont typeface="Helvetica Neue"/>
              <a:buNone/>
            </a:pPr>
            <a:r>
              <a:rPr lang="en-US" sz="5733">
                <a:solidFill>
                  <a:srgbClr val="5597FF"/>
                </a:solidFill>
              </a:rPr>
              <a:t>   </a:t>
            </a:r>
            <a:r>
              <a:rPr b="1" lang="en-US" sz="4900">
                <a:solidFill>
                  <a:srgbClr val="5597FF"/>
                </a:solidFill>
                <a:latin typeface="Calibri"/>
                <a:ea typeface="Calibri"/>
                <a:cs typeface="Calibri"/>
                <a:sym typeface="Calibri"/>
              </a:rPr>
              <a:t>Classes for Login + Role-Based Access</a:t>
            </a:r>
            <a:endParaRPr b="1" sz="4900">
              <a:solidFill>
                <a:srgbClr val="5597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12030450" y="1499700"/>
            <a:ext cx="11610000" cy="12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544"/>
              </a:buClr>
              <a:buSzPts val="3300"/>
              <a:buFont typeface="Helvetica Neue"/>
              <a:buNone/>
            </a:pPr>
            <a:r>
              <a:rPr i="0" lang="en-US" sz="3300" u="none" cap="none" strike="noStrike">
                <a:solidFill>
                  <a:srgbClr val="FF6544"/>
                </a:solidFill>
                <a:latin typeface="Calibri"/>
                <a:ea typeface="Calibri"/>
                <a:cs typeface="Calibri"/>
                <a:sym typeface="Calibri"/>
              </a:rPr>
              <a:t>classDiagram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r>
              <a:rPr i="0" lang="en-US" sz="24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i="0" lang="en-US" sz="2900" u="none" cap="none" strike="noStrike">
                <a:solidFill>
                  <a:srgbClr val="1A40FF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AuthController {</a:t>
            </a:r>
            <a:endParaRPr i="0" sz="29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+ </a:t>
            </a:r>
            <a:r>
              <a:rPr i="0" lang="en-US" sz="2900" u="none" cap="none" strike="noStrike">
                <a:solidFill>
                  <a:srgbClr val="2055FF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+ logout()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t/>
            </a:r>
            <a:endParaRPr i="0" sz="29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i="0" lang="en-US" sz="2900" u="none" cap="none" strike="noStrike">
                <a:solidFill>
                  <a:srgbClr val="2436FF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AuthService 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+ validateUser()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+ authenticate()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t/>
            </a:r>
            <a:endParaRPr i="0" sz="29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i="0" lang="en-US" sz="2900" u="none" cap="none" strike="noStrike">
                <a:solidFill>
                  <a:srgbClr val="313CFF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UserRepository 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+ getUserByUsername()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+ saveUser()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t/>
            </a:r>
            <a:endParaRPr i="0" sz="29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i="0" lang="en-US" sz="2900" u="none" cap="none" strike="noStrike">
                <a:solidFill>
                  <a:srgbClr val="273BED"/>
                </a:solidFill>
                <a:latin typeface="Calibri"/>
                <a:ea typeface="Calibri"/>
                <a:cs typeface="Calibri"/>
                <a:sym typeface="Calibri"/>
              </a:rPr>
              <a:t>class Database</a:t>
            </a: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+ users </a:t>
            </a:r>
            <a:r>
              <a:rPr i="0" lang="en-US" sz="2900" u="none" cap="none" strike="noStrike">
                <a:solidFill>
                  <a:srgbClr val="193DFF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+ login_logs </a:t>
            </a:r>
            <a:r>
              <a:rPr i="0" lang="en-US" sz="2900" u="none" cap="none" strike="noStrike">
                <a:solidFill>
                  <a:srgbClr val="294BFF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i="0" sz="2400" u="none" cap="none" strike="noStrike">
              <a:solidFill>
                <a:srgbClr val="294B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t/>
            </a:r>
            <a:endParaRPr i="0" sz="29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i="0" lang="en-US" sz="2900" u="none" cap="none" strike="noStrike">
                <a:solidFill>
                  <a:srgbClr val="244DFF"/>
                </a:solidFill>
                <a:latin typeface="Calibri"/>
                <a:ea typeface="Calibri"/>
                <a:cs typeface="Calibri"/>
                <a:sym typeface="Calibri"/>
              </a:rPr>
              <a:t>class User</a:t>
            </a: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username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i="0" lang="en-US" sz="2900" u="none" cap="none" strike="noStrike">
                <a:solidFill>
                  <a:srgbClr val="3A54FF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i="0" sz="2400" u="none" cap="none" strike="noStrike">
              <a:solidFill>
                <a:srgbClr val="3A54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4FF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3A54FF"/>
                </a:solidFill>
                <a:latin typeface="Calibri"/>
                <a:ea typeface="Calibri"/>
                <a:cs typeface="Calibri"/>
                <a:sym typeface="Calibri"/>
              </a:rPr>
              <a:t>        role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    email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900"/>
              <a:buFont typeface="Helvetica Neue"/>
              <a:buNone/>
            </a:pPr>
            <a:r>
              <a:rPr i="0" lang="en-US" sz="2900" u="none" cap="none" strike="noStrike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/>
        </p:nvSpPr>
        <p:spPr>
          <a:xfrm>
            <a:off x="7113980" y="151989"/>
            <a:ext cx="10155900" cy="15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5152"/>
              </a:buClr>
              <a:buSzPts val="4100"/>
              <a:buFont typeface="Times"/>
              <a:buNone/>
            </a:pPr>
            <a:r>
              <a:rPr b="1" i="0" lang="en-US" sz="4100" u="none" cap="none" strike="noStrike">
                <a:solidFill>
                  <a:srgbClr val="F95152"/>
                </a:solidFill>
                <a:latin typeface="Calibri"/>
                <a:ea typeface="Calibri"/>
                <a:cs typeface="Calibri"/>
                <a:sym typeface="Calibri"/>
              </a:rPr>
              <a:t>Class Diagram (With Properties &amp; Methods)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Times"/>
              <a:buNone/>
            </a:pPr>
            <a:r>
              <a:t/>
            </a:r>
            <a:endParaRPr b="1" i="0" sz="4100" u="none" cap="none" strike="noStrike">
              <a:solidFill>
                <a:srgbClr val="F951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1988078" y="2027990"/>
            <a:ext cx="4503300" cy="6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Times"/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r>
              <a:rPr b="1" i="0" lang="en-US" sz="3100" u="none" cap="none" strike="noStrike">
                <a:solidFill>
                  <a:srgbClr val="2BFF6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 User Class</a:t>
            </a:r>
            <a:endParaRPr i="0" sz="2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935FF"/>
              </a:buClr>
              <a:buSzPts val="2500"/>
              <a:buFont typeface="Times"/>
              <a:buNone/>
            </a:pPr>
            <a:r>
              <a:rPr b="1" i="0" lang="en-US" sz="2900" u="none" cap="none" strike="noStrike">
                <a:solidFill>
                  <a:srgbClr val="6935FF"/>
                </a:solidFill>
                <a:latin typeface="Calibri"/>
                <a:ea typeface="Calibri"/>
                <a:cs typeface="Calibri"/>
                <a:sym typeface="Calibri"/>
              </a:rPr>
              <a:t>Properties:</a:t>
            </a:r>
            <a:endParaRPr i="0" sz="28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userId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445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ourier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r>
              <a:rPr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(Admin / User / Guest)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7950"/>
              </a:buClr>
              <a:buSzPts val="2500"/>
              <a:buFont typeface="Times"/>
              <a:buNone/>
            </a:pPr>
            <a:r>
              <a:rPr b="1" i="0" lang="en-US" sz="2900" u="none" cap="none" strike="noStrike">
                <a:solidFill>
                  <a:srgbClr val="FF7950"/>
                </a:solidFill>
                <a:latin typeface="Calibri"/>
                <a:ea typeface="Calibri"/>
                <a:cs typeface="Calibri"/>
                <a:sym typeface="Calibri"/>
              </a:rPr>
              <a:t>Methods:</a:t>
            </a:r>
            <a:endParaRPr i="0" sz="28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getRole()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validatePassword()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8558107" y="2231193"/>
            <a:ext cx="5499600" cy="43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Times"/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b="1" i="0" lang="en-US" sz="3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 AuthController Class</a:t>
            </a:r>
            <a:endParaRPr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84F"/>
              </a:buClr>
              <a:buSzPts val="2500"/>
              <a:buFont typeface="Times"/>
              <a:buNone/>
            </a:pPr>
            <a:r>
              <a:rPr b="1" i="0" lang="en-US" sz="3200" u="none" cap="none" strike="noStrike">
                <a:solidFill>
                  <a:srgbClr val="FFC84F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r>
              <a:rPr b="1" i="0" lang="en-US" sz="2500" u="none" cap="none" strike="noStrike">
                <a:solidFill>
                  <a:srgbClr val="FFC84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Calibri"/>
              <a:buChar char="•"/>
            </a:pPr>
            <a:r>
              <a:rPr i="1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None (controller layer)</a:t>
            </a:r>
            <a:endParaRPr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209F"/>
              </a:buClr>
              <a:buSzPts val="2500"/>
              <a:buFont typeface="Times"/>
              <a:buNone/>
            </a:pPr>
            <a:r>
              <a:rPr b="1" i="0" lang="en-US" sz="2500" u="none" cap="none" strike="noStrike">
                <a:solidFill>
                  <a:srgbClr val="FF209F"/>
                </a:solidFill>
                <a:latin typeface="Calibri"/>
                <a:ea typeface="Calibri"/>
                <a:cs typeface="Calibri"/>
                <a:sym typeface="Calibri"/>
              </a:rPr>
              <a:t>Methods:</a:t>
            </a:r>
            <a:endParaRPr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login()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logout()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handleInvalidLogin()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16124432" y="2027993"/>
            <a:ext cx="5954400" cy="43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Times"/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b="1" i="0" lang="en-US" sz="3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3. AuthService Class</a:t>
            </a:r>
            <a:endParaRPr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07EFF"/>
              </a:buClr>
              <a:buSzPts val="2500"/>
              <a:buFont typeface="Times"/>
              <a:buNone/>
            </a:pPr>
            <a:r>
              <a:rPr b="1" i="0" lang="en-US" sz="3000" u="none" cap="none" strike="noStrike">
                <a:solidFill>
                  <a:srgbClr val="F07EFF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r>
              <a:rPr b="1" i="0" lang="en-US" sz="2500" u="none" cap="none" strike="noStrike">
                <a:solidFill>
                  <a:srgbClr val="F07E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445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ourier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userRepository</a:t>
            </a:r>
            <a:r>
              <a:rPr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(object reference)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597FF"/>
              </a:buClr>
              <a:buSzPts val="2500"/>
              <a:buFont typeface="Times"/>
              <a:buNone/>
            </a:pPr>
            <a:r>
              <a:rPr b="1" i="0" lang="en-US" sz="2500" u="none" cap="none" strike="noStrike">
                <a:solidFill>
                  <a:srgbClr val="5597FF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r>
              <a:rPr b="1" i="0" lang="en-US" sz="2500" u="none" cap="none" strike="noStrike">
                <a:solidFill>
                  <a:srgbClr val="B7FFF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validateUser(username, password)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authenticate(user)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assignRole(user)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6062783" y="8386009"/>
            <a:ext cx="6352800" cy="43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Times"/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r>
              <a:rPr b="1" i="0" lang="en-US" sz="3100" u="none" cap="none" strike="noStrike">
                <a:solidFill>
                  <a:srgbClr val="FF9D9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4. UserRepository Class</a:t>
            </a:r>
            <a:endParaRPr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71FFF"/>
              </a:buClr>
              <a:buSzPts val="2500"/>
              <a:buFont typeface="Times"/>
              <a:buNone/>
            </a:pPr>
            <a:r>
              <a:rPr b="1" i="0" lang="en-US" sz="3000" u="none" cap="none" strike="noStrike">
                <a:solidFill>
                  <a:srgbClr val="971FFF"/>
                </a:solidFill>
                <a:latin typeface="Calibri"/>
                <a:ea typeface="Calibri"/>
                <a:cs typeface="Calibri"/>
                <a:sym typeface="Calibri"/>
              </a:rPr>
              <a:t>Properties:</a:t>
            </a:r>
            <a:endParaRPr i="0" sz="29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databaseConnection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EF8F"/>
              </a:buClr>
              <a:buSzPts val="2500"/>
              <a:buFont typeface="Times"/>
              <a:buNone/>
            </a:pPr>
            <a:r>
              <a:rPr b="1" i="0" lang="en-US" sz="3000" u="none" cap="none" strike="noStrike">
                <a:solidFill>
                  <a:srgbClr val="26EF8F"/>
                </a:solidFill>
                <a:latin typeface="Calibri"/>
                <a:ea typeface="Calibri"/>
                <a:cs typeface="Calibri"/>
                <a:sym typeface="Calibri"/>
              </a:rPr>
              <a:t>Methods:</a:t>
            </a:r>
            <a:endParaRPr i="0" sz="29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getUserByUsername(username)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saveUser(user)</a:t>
            </a:r>
            <a:endParaRPr i="0" sz="25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Calibri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logLoginAttempt(user, status)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14123348" y="8220909"/>
            <a:ext cx="8013300" cy="47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✅ </a:t>
            </a:r>
            <a:r>
              <a:rPr b="1" i="0" lang="en-US" sz="3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5. Database Class</a:t>
            </a:r>
            <a:endParaRPr i="0" sz="2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AF27"/>
              </a:buClr>
              <a:buSzPts val="2300"/>
              <a:buFont typeface="Times"/>
              <a:buNone/>
            </a:pPr>
            <a:r>
              <a:rPr b="1" i="0" lang="en-US" sz="2900" u="none" cap="none" strike="noStrike">
                <a:solidFill>
                  <a:srgbClr val="FFAF27"/>
                </a:solidFill>
                <a:latin typeface="Calibri"/>
                <a:ea typeface="Calibri"/>
                <a:cs typeface="Calibri"/>
                <a:sym typeface="Calibri"/>
              </a:rPr>
              <a:t>Tables (Properties):</a:t>
            </a:r>
            <a:endParaRPr i="0" sz="30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Calibri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users(username, password, role, email)</a:t>
            </a:r>
            <a:endParaRPr i="0" sz="23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Calibri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login_logs(userId, timestamp, status)</a:t>
            </a:r>
            <a:endParaRPr i="0" sz="23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D88FF"/>
              </a:buClr>
              <a:buSzPts val="2300"/>
              <a:buFont typeface="Times"/>
              <a:buNone/>
            </a:pPr>
            <a:r>
              <a:rPr b="1" i="0" lang="en-US" sz="2300" u="none" cap="none" strike="noStrike">
                <a:solidFill>
                  <a:srgbClr val="0D88FF"/>
                </a:solidFill>
                <a:latin typeface="Calibri"/>
                <a:ea typeface="Calibri"/>
                <a:cs typeface="Calibri"/>
                <a:sym typeface="Calibri"/>
              </a:rPr>
              <a:t>Methods:</a:t>
            </a:r>
            <a:endParaRPr i="0" sz="24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Calibri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insert()</a:t>
            </a:r>
            <a:endParaRPr i="0" sz="23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Calibri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select()</a:t>
            </a:r>
            <a:endParaRPr i="0" sz="2300" u="none" cap="none" strike="noStrike"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Calibri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update()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/>
        </p:nvSpPr>
        <p:spPr>
          <a:xfrm>
            <a:off x="7133260" y="488010"/>
            <a:ext cx="101175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F95A"/>
              </a:buClr>
              <a:buSzPts val="6400"/>
              <a:buFont typeface="Times"/>
              <a:buNone/>
            </a:pPr>
            <a:r>
              <a:rPr b="1" i="0" lang="en-US" sz="6400" u="none" cap="none" strike="noStrike">
                <a:solidFill>
                  <a:srgbClr val="FF9D9A"/>
                </a:solidFill>
                <a:latin typeface="Calibri"/>
                <a:ea typeface="Calibri"/>
                <a:cs typeface="Calibri"/>
                <a:sym typeface="Calibri"/>
              </a:rPr>
              <a:t>Database Schema: Module 1</a:t>
            </a:r>
            <a:endParaRPr b="1">
              <a:solidFill>
                <a:srgbClr val="FF9D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2916200" y="3385750"/>
            <a:ext cx="10117500" cy="38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FDEA"/>
              </a:buClr>
              <a:buSzPts val="3000"/>
              <a:buFont typeface="Times"/>
              <a:buNone/>
            </a:pPr>
            <a:r>
              <a:rPr b="1" i="0" lang="en-US" sz="3600" u="none" cap="none" strike="noStrike">
                <a:solidFill>
                  <a:srgbClr val="5597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3500" u="none" cap="none" strike="noStrike">
                <a:solidFill>
                  <a:srgbClr val="5597FF"/>
                </a:solidFill>
                <a:latin typeface="Calibri"/>
                <a:ea typeface="Calibri"/>
                <a:cs typeface="Calibri"/>
                <a:sym typeface="Calibri"/>
              </a:rPr>
              <a:t>. Tables Overview</a:t>
            </a:r>
            <a:endParaRPr i="0" sz="3500" u="none" cap="none" strike="noStrike">
              <a:solidFill>
                <a:srgbClr val="5597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"/>
              <a:buNone/>
            </a:pPr>
            <a:r>
              <a:rPr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need </a:t>
            </a:r>
            <a:r>
              <a:rPr b="1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tables</a:t>
            </a:r>
            <a:r>
              <a:rPr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better organization: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"/>
              <a:buAutoNum type="arabicPeriod"/>
            </a:pPr>
            <a:r>
              <a:rPr b="1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r>
              <a:rPr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Stores user login info.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"/>
              <a:buAutoNum type="arabicPeriod"/>
            </a:pPr>
            <a:r>
              <a:rPr b="1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r>
              <a:rPr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Stores role types.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"/>
              <a:buAutoNum type="arabicPeriod"/>
            </a:pPr>
            <a:r>
              <a:rPr b="1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User_Roles</a:t>
            </a:r>
            <a:r>
              <a:rPr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(optional, if a user can have multiple roles) – Maps users to roles.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4628905" y="7189056"/>
            <a:ext cx="2419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3300"/>
              <a:buFont typeface="Times"/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 txBox="1"/>
          <p:nvPr/>
        </p:nvSpPr>
        <p:spPr>
          <a:xfrm>
            <a:off x="12910734" y="7643252"/>
            <a:ext cx="28614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3300"/>
              <a:buFont typeface="Times"/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 txBox="1"/>
          <p:nvPr/>
        </p:nvSpPr>
        <p:spPr>
          <a:xfrm>
            <a:off x="13717075" y="2306450"/>
            <a:ext cx="9445500" cy="9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436FF"/>
                </a:solidFill>
                <a:latin typeface="Courier"/>
                <a:ea typeface="Courier"/>
                <a:cs typeface="Courier"/>
                <a:sym typeface="Courier"/>
              </a:rPr>
              <a:t>CREATE TABLE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Users (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userId </a:t>
            </a:r>
            <a:r>
              <a:rPr lang="en-US" sz="2500">
                <a:solidFill>
                  <a:srgbClr val="2436FF"/>
                </a:solidFill>
                <a:latin typeface="Courier"/>
                <a:ea typeface="Courier"/>
                <a:cs typeface="Courier"/>
                <a:sym typeface="Courier"/>
              </a:rPr>
              <a:t>INT PRIMARY KEY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AUTO_INCREMENT,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userName </a:t>
            </a:r>
            <a:r>
              <a:rPr lang="en-US" sz="2500">
                <a:solidFill>
                  <a:srgbClr val="2436FF"/>
                </a:solidFill>
                <a:latin typeface="Courier"/>
                <a:ea typeface="Courier"/>
                <a:cs typeface="Courier"/>
                <a:sym typeface="Courier"/>
              </a:rPr>
              <a:t>VARCHAR(50) NOT NULL,</a:t>
            </a:r>
            <a:endParaRPr sz="2500">
              <a:solidFill>
                <a:srgbClr val="2436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email </a:t>
            </a:r>
            <a:r>
              <a:rPr lang="en-US" sz="2500">
                <a:solidFill>
                  <a:srgbClr val="2436FF"/>
                </a:solidFill>
                <a:latin typeface="Courier"/>
                <a:ea typeface="Courier"/>
                <a:cs typeface="Courier"/>
                <a:sym typeface="Courier"/>
              </a:rPr>
              <a:t>VARCHAR(100) UNIQUE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NOT NULL,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password</a:t>
            </a:r>
            <a:r>
              <a:rPr lang="en-US" sz="2500">
                <a:solidFill>
                  <a:srgbClr val="2436FF"/>
                </a:solidFill>
                <a:latin typeface="Courier"/>
                <a:ea typeface="Courier"/>
                <a:cs typeface="Courier"/>
                <a:sym typeface="Courier"/>
              </a:rPr>
              <a:t> VARCHAR(255) NOT NULL</a:t>
            </a:r>
            <a:endParaRPr sz="2500">
              <a:solidFill>
                <a:srgbClr val="2436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);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-- 2. ROLES Table (Role definitions)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436FF"/>
                </a:solidFill>
                <a:latin typeface="Courier"/>
                <a:ea typeface="Courier"/>
                <a:cs typeface="Courier"/>
                <a:sym typeface="Courier"/>
              </a:rPr>
              <a:t>CREATE TABLE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Roles (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roleId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INT PRIMARY KEY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AUTO_INCREMENT,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roleName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VARCHAR(20) NOT NULL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-- 'admin', 'user'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);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0124D"/>
                </a:solidFill>
                <a:latin typeface="Courier"/>
                <a:ea typeface="Courier"/>
                <a:cs typeface="Courier"/>
                <a:sym typeface="Courier"/>
              </a:rPr>
              <a:t>-- 3. USER_ROLES Table (Many-to-Many Link)</a:t>
            </a:r>
            <a:endParaRPr sz="2500">
              <a:solidFill>
                <a:srgbClr val="20124D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CREATE TABLE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User_Roles (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userId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,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roleId </a:t>
            </a:r>
            <a:r>
              <a:rPr lang="en-US" sz="2500">
                <a:solidFill>
                  <a:srgbClr val="2436FF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,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PRIMARY KEY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(userId, roleId),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FOREIGN KEY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(userId)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REFERENCES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Users(userId),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FOREIGN KEY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(roleId)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REFERENCES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 Roles(roleId)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);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/>
        </p:nvSpPr>
        <p:spPr>
          <a:xfrm>
            <a:off x="7876275" y="-98150"/>
            <a:ext cx="5250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                                                                      </a:t>
            </a:r>
            <a:r>
              <a:rPr b="1" lang="en-US" sz="2600">
                <a:latin typeface="Calibri"/>
                <a:ea typeface="Calibri"/>
                <a:cs typeface="Calibri"/>
                <a:sym typeface="Calibri"/>
              </a:rPr>
              <a:t>🟦  </a:t>
            </a: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Module </a:t>
            </a:r>
            <a:r>
              <a:rPr b="1" lang="en-US" sz="41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-</a:t>
            </a:r>
            <a:endParaRPr b="1"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10992450" y="394450"/>
            <a:ext cx="13102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Authentication Module</a:t>
            </a:r>
            <a:endParaRPr b="1" sz="5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2110150" y="2551825"/>
            <a:ext cx="8489700" cy="7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🔹</a:t>
            </a: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 User (User Details Holder)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44DFF"/>
                </a:solidFill>
                <a:latin typeface="Courier"/>
                <a:ea typeface="Courier"/>
                <a:cs typeface="Courier"/>
                <a:sym typeface="Courier"/>
              </a:rPr>
              <a:t>CLASS User</a:t>
            </a:r>
            <a:endParaRPr sz="3000">
              <a:solidFill>
                <a:srgbClr val="244D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3000">
                <a:latin typeface="Courier"/>
                <a:ea typeface="Courier"/>
                <a:cs typeface="Courier"/>
                <a:sym typeface="Courier"/>
              </a:rPr>
              <a:t>userId</a:t>
            </a:r>
            <a:endParaRPr sz="3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ourier"/>
                <a:ea typeface="Courier"/>
                <a:cs typeface="Courier"/>
                <a:sym typeface="Courier"/>
              </a:rPr>
              <a:t>        fullName</a:t>
            </a:r>
            <a:endParaRPr sz="3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ourier"/>
                <a:ea typeface="Courier"/>
                <a:cs typeface="Courier"/>
                <a:sym typeface="Courier"/>
              </a:rPr>
              <a:t>        email Id</a:t>
            </a:r>
            <a:endParaRPr sz="3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ourier"/>
                <a:ea typeface="Courier"/>
                <a:cs typeface="Courier"/>
                <a:sym typeface="Courier"/>
              </a:rPr>
              <a:t>        username</a:t>
            </a:r>
            <a:endParaRPr sz="3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44DFF"/>
                </a:solidFill>
                <a:latin typeface="Courier"/>
                <a:ea typeface="Courier"/>
                <a:cs typeface="Courier"/>
                <a:sym typeface="Courier"/>
              </a:rPr>
              <a:t>        password</a:t>
            </a:r>
            <a:endParaRPr sz="3000">
              <a:solidFill>
                <a:srgbClr val="244D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</a:t>
            </a:r>
            <a:r>
              <a:rPr lang="en-US" sz="3000">
                <a:latin typeface="Courier"/>
                <a:ea typeface="Courier"/>
                <a:cs typeface="Courier"/>
                <a:sym typeface="Courier"/>
              </a:rPr>
              <a:t>userRole</a:t>
            </a:r>
            <a:endParaRPr sz="3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44DFF"/>
                </a:solidFill>
                <a:latin typeface="Courier"/>
                <a:ea typeface="Courier"/>
                <a:cs typeface="Courier"/>
                <a:sym typeface="Courier"/>
              </a:rPr>
              <a:t>END CLASS</a:t>
            </a:r>
            <a:endParaRPr sz="3000">
              <a:solidFill>
                <a:srgbClr val="244D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Purpose:</a:t>
            </a:r>
            <a:br>
              <a:rPr b="1" lang="en-US" sz="30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Stores user information such as credentials and role</a:t>
            </a:r>
            <a:br>
              <a:rPr lang="en-US" sz="30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(No business logic here)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16807625" y="5398075"/>
            <a:ext cx="7630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11434150" y="2306450"/>
            <a:ext cx="9912600" cy="9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🔹</a:t>
            </a:r>
            <a:r>
              <a:rPr b="1" lang="en-US" sz="3400">
                <a:latin typeface="Calibri"/>
                <a:ea typeface="Calibri"/>
                <a:cs typeface="Calibri"/>
                <a:sym typeface="Calibri"/>
              </a:rPr>
              <a:t> AuthController (Handles User Requests)</a:t>
            </a:r>
            <a:endParaRPr b="1"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44DFF"/>
                </a:solidFill>
                <a:latin typeface="Courier"/>
                <a:ea typeface="Courier"/>
                <a:cs typeface="Courier"/>
                <a:sym typeface="Courier"/>
              </a:rPr>
              <a:t>CLASS</a:t>
            </a: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AuthController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8803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500">
                <a:solidFill>
                  <a:srgbClr val="244DFF"/>
                </a:solidFill>
                <a:latin typeface="Courier"/>
                <a:ea typeface="Courier"/>
                <a:cs typeface="Courier"/>
                <a:sym typeface="Courier"/>
              </a:rPr>
              <a:t>FUNCTION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registerUser(userInfo)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500">
                <a:solidFill>
                  <a:srgbClr val="244DFF"/>
                </a:solidFill>
                <a:latin typeface="Courier"/>
                <a:ea typeface="Courier"/>
                <a:cs typeface="Courier"/>
                <a:sym typeface="Courier"/>
              </a:rPr>
              <a:t>call</a:t>
            </a: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AuthService.register(userInfo)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44DFF"/>
                </a:solidFill>
                <a:latin typeface="Courier"/>
                <a:ea typeface="Courier"/>
                <a:cs typeface="Courier"/>
                <a:sym typeface="Courier"/>
              </a:rPr>
              <a:t>    END FUNCTION</a:t>
            </a:r>
            <a:endParaRPr sz="2500">
              <a:solidFill>
                <a:srgbClr val="244D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8803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loginUser(loginInfo)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call</a:t>
            </a: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AuthService.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login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(loginInfo)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    END FUNCTION</a:t>
            </a:r>
            <a:endParaRPr sz="25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8803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resetPassword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(email)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call</a:t>
            </a:r>
            <a:r>
              <a:rPr lang="en-US" sz="25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500">
                <a:latin typeface="Courier"/>
                <a:ea typeface="Courier"/>
                <a:cs typeface="Courier"/>
                <a:sym typeface="Courier"/>
              </a:rPr>
              <a:t>AuthService.resetPassword(email)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    END FUNCTION</a:t>
            </a:r>
            <a:endParaRPr sz="25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8803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CLASS</a:t>
            </a:r>
            <a:endParaRPr sz="25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900">
                <a:latin typeface="Calibri"/>
                <a:ea typeface="Calibri"/>
                <a:cs typeface="Calibri"/>
                <a:sym typeface="Calibri"/>
              </a:rPr>
              <a:t>Purpose:</a:t>
            </a:r>
            <a:br>
              <a:rPr b="1" lang="en-US" sz="29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900">
                <a:latin typeface="Calibri"/>
                <a:ea typeface="Calibri"/>
                <a:cs typeface="Calibri"/>
                <a:sym typeface="Calibri"/>
              </a:rPr>
              <a:t> Receives requests from user interface</a:t>
            </a:r>
            <a:br>
              <a:rPr lang="en-US" sz="29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900">
                <a:latin typeface="Calibri"/>
                <a:ea typeface="Calibri"/>
                <a:cs typeface="Calibri"/>
                <a:sym typeface="Calibri"/>
              </a:rPr>
              <a:t> Forwards them to service layer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/>
        </p:nvSpPr>
        <p:spPr>
          <a:xfrm>
            <a:off x="1594875" y="146550"/>
            <a:ext cx="10452600" cy="148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700"/>
              <a:t>🔹</a:t>
            </a:r>
            <a:r>
              <a:rPr b="1" lang="en-US" sz="3100"/>
              <a:t> AuthService (Authentication Logic)</a:t>
            </a:r>
            <a:endParaRPr b="1" sz="3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CLASS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AuthService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8803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register(userInfo)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IF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user already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exists THEN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display "User already registered"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ELSE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save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user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details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display "Registration successful"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IF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FUNCTION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8803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login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(loginInfo)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IF credentials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are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valid THEN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create session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grant access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based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on role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        ELSE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display "Login failed"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IF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FUNCTION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8803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resetPassword(email)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email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exists THEN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send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password reset</a:t>
            </a: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link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ELSE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US" sz="2600">
                <a:latin typeface="Courier"/>
                <a:ea typeface="Courier"/>
                <a:cs typeface="Courier"/>
                <a:sym typeface="Courier"/>
              </a:rPr>
              <a:t>display "Email not found"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IF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FUNCTION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8803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CLASS</a:t>
            </a:r>
            <a:endParaRPr sz="26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800"/>
              <a:t>Purpose:</a:t>
            </a:r>
            <a:br>
              <a:rPr b="1" lang="en-US" sz="2800"/>
            </a:br>
            <a:r>
              <a:rPr lang="en-US" sz="2800"/>
              <a:t> Contains core authentication and security logic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13701350" y="0"/>
            <a:ext cx="1072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🔹 UserRepository (Database Interaction)</a:t>
            </a:r>
            <a:endParaRPr b="1" sz="3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13970450" y="1440950"/>
            <a:ext cx="96222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CLASS</a:t>
            </a: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UserRepository</a:t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3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saveUser(user)</a:t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       store user data in database</a:t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3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FUNCTION</a:t>
            </a:r>
            <a:endParaRPr sz="35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3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getUser(username)</a:t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       retrieve user from database</a:t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35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END FUNCTION</a:t>
            </a:r>
            <a:endParaRPr sz="3500">
              <a:solidFill>
                <a:schemeClr val="accent6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END CLASS</a:t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14238650" y="8090450"/>
            <a:ext cx="7253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latin typeface="Calibri"/>
                <a:ea typeface="Calibri"/>
                <a:cs typeface="Calibri"/>
                <a:sym typeface="Calibri"/>
              </a:rPr>
              <a:t>Purpose:</a:t>
            </a:r>
            <a:endParaRPr b="1" sz="3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Calibri"/>
                <a:ea typeface="Calibri"/>
                <a:cs typeface="Calibri"/>
                <a:sym typeface="Calibri"/>
              </a:rPr>
              <a:t>Handles only database operations</a:t>
            </a:r>
            <a:endParaRPr sz="3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Calibri"/>
                <a:ea typeface="Calibri"/>
                <a:cs typeface="Calibri"/>
                <a:sym typeface="Calibri"/>
              </a:rPr>
              <a:t>No business logic</a:t>
            </a:r>
            <a:endParaRPr sz="5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36" name="Google Shape;2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6743" y="3351096"/>
            <a:ext cx="9410514" cy="5412048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40000" fadeDir="5400012" kx="0" rotWithShape="0" algn="bl" stA="49000" stPos="0" sy="-100000" ky="0"/>
          </a:effectLst>
        </p:spPr>
      </p:pic>
    </p:spTree>
  </p:cSld>
  <p:clrMapOvr>
    <a:masterClrMapping/>
  </p:clrMapOvr>
  <mc:AlternateContent>
    <mc:Choice Requires="p14">
      <p:transition spd="slow" p14:dur="7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